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0" y="54864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 i="0">
                <a:solidFill>
                  <a:srgbClr val="F1F5F9"/>
                </a:solidFill>
                <a:latin typeface="Calibri"/>
              </a:rPr>
              <a:t>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554480"/>
            <a:ext cx="85313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1F5F9"/>
                </a:solidFill>
                <a:latin typeface="Calibri"/>
              </a:rPr>
              <a:t>Pehchaan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606040"/>
            <a:ext cx="8531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94A3B8"/>
                </a:solidFill>
                <a:latin typeface="Calibri"/>
              </a:rPr>
              <a:t>पहचान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108960"/>
            <a:ext cx="8531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Calibri"/>
              </a:rPr>
              <a:t>Offline · Secure · Instant  |  Facial Recognition &amp; Liveness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749039"/>
            <a:ext cx="11274552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886200"/>
            <a:ext cx="8531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B82F6"/>
                </a:solidFill>
                <a:latin typeface="Calibri"/>
              </a:rPr>
              <a:t>HACKATHON 7.0  ·  JUNE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343400"/>
            <a:ext cx="8531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Ankit Thawal  ·  linkedin.com/in/ankit-thawal  ·  github.com/ankit-thawal47/pehchan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4754880"/>
            <a:ext cx="7616952" cy="438912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4818888"/>
            <a:ext cx="7434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  <a:latin typeface="Calibri"/>
              </a:rPr>
              <a:t>▶  DEMO  drive.google.com/file/d/1fJTuhX2EFv_5ctE8QjiePRTo3WedkGpv/view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5349240"/>
            <a:ext cx="182880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38581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B82F6"/>
                </a:solidFill>
                <a:latin typeface="Calibri"/>
              </a:rPr>
              <a:t>React Native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5349240"/>
            <a:ext cx="182880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538581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B82F6"/>
                </a:solidFill>
                <a:latin typeface="Calibri"/>
              </a:rPr>
              <a:t>Android + iOS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5349240"/>
            <a:ext cx="182880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538581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B82F6"/>
                </a:solidFill>
                <a:latin typeface="Calibri"/>
              </a:rPr>
              <a:t>19 MB Models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0" y="5349240"/>
            <a:ext cx="182880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538581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B82F6"/>
                </a:solidFill>
                <a:latin typeface="Calibri"/>
              </a:rPr>
              <a:t>&lt; 1 sec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5349240"/>
            <a:ext cx="182880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538581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B82F6"/>
                </a:solidFill>
                <a:latin typeface="Calibri"/>
              </a:rPr>
              <a:t>Fully Offline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  <a:latin typeface="Calibri"/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74552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  <a:latin typeface="Calibri"/>
              </a:rPr>
              <a:t>Field authentication fails when there's no network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365760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73736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1F5F9"/>
                </a:solidFill>
                <a:latin typeface="Calibri"/>
              </a:rPr>
              <a:t>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651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1F5F9"/>
                </a:solidFill>
                <a:latin typeface="Calibri"/>
              </a:rPr>
              <a:t>Zero Network Zones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3291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4A3B8"/>
                </a:solidFill>
                <a:latin typeface="Calibri"/>
              </a:rPr>
              <a:t>Field personnel in remote locations cannot authenticate — no internet, no cloud, no access.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65760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73736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1F5F9"/>
                </a:solidFill>
                <a:latin typeface="Calibri"/>
              </a:rPr>
              <a:t>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651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1F5F9"/>
                </a:solidFill>
                <a:latin typeface="Calibri"/>
              </a:rPr>
              <a:t>Photo Spoofing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200400"/>
            <a:ext cx="3291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4A3B8"/>
                </a:solidFill>
                <a:latin typeface="Calibri"/>
              </a:rPr>
              <a:t>Attendance fraud via printed photos or screen replays is trivial without active liveness checks.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463040"/>
            <a:ext cx="365760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73736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1F5F9"/>
                </a:solidFill>
                <a:latin typeface="Calibri"/>
              </a:rPr>
              <a:t>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651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1F5F9"/>
                </a:solidFill>
                <a:latin typeface="Calibri"/>
              </a:rPr>
              <a:t>App Size Constraint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200400"/>
            <a:ext cx="3291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4A3B8"/>
                </a:solidFill>
                <a:latin typeface="Calibri"/>
              </a:rPr>
              <a:t>Enterprise apps like Datalake 3.0 cannot afford heavy ML models that bloat the package by 200+ MB.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  <a:latin typeface="Calibri"/>
              </a:rPr>
              <a:t>Our Solution — Pehchaan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74552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  <a:latin typeface="Calibri"/>
              </a:rPr>
              <a:t>100% offline face auth that fits in 19 MB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54864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✓  Fully Offline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1907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Zero network dependency at runtime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21408"/>
            <a:ext cx="54864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1671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  <a:latin typeface="Calibri"/>
              </a:rPr>
              <a:t>✓  Active Liveness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2316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Blink · Smile · Head Turn — defeats photos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825496"/>
            <a:ext cx="54864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87121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  <a:latin typeface="Calibri"/>
              </a:rPr>
              <a:t>✓  Passive Anti-Spoof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2724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MobileNetV3 binary classifier on every frame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529584"/>
            <a:ext cx="54864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57530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✓  19 MB Model Bundle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83133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FP16 ONNX — 95% smaller than source weights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233672"/>
            <a:ext cx="54864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2793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✓  &lt; 1 sec Inference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53542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CPU-only, no GPU, mid-range devices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937760"/>
            <a:ext cx="54864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983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Calibri"/>
              </a:rPr>
              <a:t>✓  Sync &amp; Purge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23951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Offline-first SQLite → AWS when online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641848"/>
            <a:ext cx="54864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6875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✓  React Native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9436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Android 8.0+ and iOS 12+, same JS codebase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3716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Calibri"/>
              </a:rPr>
              <a:t>Pipeline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1783080"/>
            <a:ext cx="502920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18745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1F5F9"/>
                </a:solidFill>
                <a:latin typeface="Calibri"/>
              </a:rPr>
              <a:t>📷 Camera Snapshot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22860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450591"/>
            <a:ext cx="502920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2542031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🔍 Blur Detection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2953511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118104"/>
            <a:ext cx="502920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320954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1F5F9"/>
                </a:solidFill>
                <a:latin typeface="Calibri"/>
              </a:rPr>
              <a:t>🛡  Spoof Check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362102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3785615"/>
            <a:ext cx="502920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3877055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👤 Face Detection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4288535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4453128"/>
            <a:ext cx="502920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0" y="454456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1F5F9"/>
                </a:solidFill>
                <a:latin typeface="Calibri"/>
              </a:rPr>
              <a:t>🧬 Face Embedding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495604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5120640"/>
            <a:ext cx="502920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0" y="52120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🔎 Cosine Search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56235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5788152"/>
            <a:ext cx="502920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0" y="5879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0B981"/>
                </a:solidFill>
                <a:latin typeface="Calibri"/>
              </a:rPr>
              <a:t>✅ Match / No Match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  <a:latin typeface="Calibri"/>
              </a:rPr>
              <a:t>Innovation — How We Earn the 30 Marks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74552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  <a:latin typeface="Calibri"/>
              </a:rPr>
              <a:t>Edge AI efficiency · Compression techniques · Offline liveness effectiveness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25880"/>
            <a:ext cx="11640312" cy="3840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  <a:latin typeface="Calibri"/>
              </a:rPr>
              <a:t>① Efficiency of the Edge AI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737360"/>
            <a:ext cx="2788920" cy="1325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80136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MobileNetV3-Large (Spoof)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48840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Designed for mobile — depthwise separable convs, SE attention, HardSwish.
5.4M params. Runs in ~160 ms on Snapdragon CPU. No GPU required.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737360"/>
            <a:ext cx="2788920" cy="1325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80136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MobileFaceNet (Embedding)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148840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1.0M params — 1/27th the size of ResNet-50 used in server systems.
512-dim embedding, trained on 600K identities. ~130 ms CPU.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737360"/>
            <a:ext cx="2788920" cy="1325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80136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MediaPipe Face Landmarker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148840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Dual-purpose: detects face bbox AND drives liveness — eliminates a
separate detector model. Float16 quantised by Google. ~60 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1737360"/>
            <a:ext cx="2788920" cy="1325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80136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Laplacian Variance (Blur)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148840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Classical CV — zero model weight. Pure JS 3×3 kernel.
No ONNX session, no inference cost. ~2 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154680"/>
            <a:ext cx="11640312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20040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  <a:latin typeface="Calibri"/>
              </a:rPr>
              <a:t>② Compression Techniques — 50.8 MB checkpoint → 8.4 MB deployed  (83% reduction)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566160"/>
            <a:ext cx="2194560" cy="1371600"/>
          </a:xfrm>
          <a:prstGeom prst="rect">
            <a:avLst/>
          </a:prstGeom>
          <a:solidFill>
            <a:srgbClr val="1E293B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63931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94A3B8"/>
                </a:solidFill>
                <a:latin typeface="Calibri"/>
              </a:rPr>
              <a:t>50.8 MB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09651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PyTorch .pth
Checkpoint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3749039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  <a:latin typeface="Calibri"/>
              </a:rPr>
              <a:t>→ source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3566160"/>
            <a:ext cx="2194560" cy="137160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0" y="363931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B82F6"/>
                </a:solidFill>
                <a:latin typeface="Calibri"/>
              </a:rPr>
              <a:t>16.8 MB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409651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ONNX Export
opset 17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3749039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  <a:latin typeface="Calibri"/>
              </a:rPr>
              <a:t>→ −67%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566160"/>
            <a:ext cx="2194560" cy="137160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363931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  <a:latin typeface="Calibri"/>
              </a:rPr>
              <a:t>8.4 MB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409651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FP16 Conversion
(BN blocked)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61120" y="3566160"/>
            <a:ext cx="292608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80" y="36301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Why FP16, not INT8?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3950208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INT8 generates ConvInteger ops — excluded
from ORT mobile build on Android.
FP16 uses standard Conv ops universally.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029200"/>
            <a:ext cx="11640312" cy="347472"/>
          </a:xfrm>
          <a:prstGeom prst="rect">
            <a:avLst/>
          </a:prstGeom>
          <a:solidFill>
            <a:srgbClr val="052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07492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  <a:latin typeface="Calibri"/>
              </a:rPr>
              <a:t>③ Effectiveness of Offline Liveness Detection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440680"/>
            <a:ext cx="2788920" cy="1280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550468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3-Challenge Sequence
(Active)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5870448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Blink → Smile → Head Turn
Requires real-time face movement.
Static media physically cannot comply.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5440680"/>
            <a:ext cx="2788920" cy="1280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91840" y="550468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MediaPipe Blend Shapes
(Precision)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91840" y="5870448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52 facial action units tracked.
Eye open probability ± 0.05 accuracy.
Euler yaw ± 2° precision.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0" y="5440680"/>
            <a:ext cx="2788920" cy="1280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0" y="550468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CLAHE Preprocessing
(Lighting)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5870448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Adaptive histogram equalisation.
Handles harsh sunlight, shadows,
low light — Indian field conditions.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52560" y="5440680"/>
            <a:ext cx="2788920" cy="1280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0" y="550468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Passive Spoof Model
(Double check)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0" y="5870448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MobileNetV3 on every capture.
NaN guard: active liveness remains
primary if model gives no output.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  <a:latin typeface="Calibri"/>
              </a:rPr>
              <a:t>Model Architecture &amp; Compression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74552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  <a:latin typeface="Calibri"/>
              </a:rPr>
              <a:t>348 MB of source weights → 19 MB deployed  (95% reduction)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12880" cy="3840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47218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Calibri"/>
              </a:rP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47218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Calibri"/>
              </a:rPr>
              <a:t>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47218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Calibri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47218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Calibri"/>
              </a:rPr>
              <a:t>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147218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Calibri"/>
              </a:rPr>
              <a:t>Source 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147218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Calibri"/>
              </a:rPr>
              <a:t>Deployed size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801368"/>
            <a:ext cx="1161288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87452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  <a:latin typeface="Calibri"/>
              </a:rPr>
              <a:t>spoof_fp16.onnx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1874520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  <a:latin typeface="Calibri"/>
              </a:rPr>
              <a:t>MobileNetV3-Large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87452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1×3×224×224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1874520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(1,1) logit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874520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50.8 MB .pth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1874520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  <a:latin typeface="Calibri"/>
              </a:rPr>
              <a:t>8.4 MB 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276856"/>
            <a:ext cx="11612880" cy="457200"/>
          </a:xfrm>
          <a:prstGeom prst="rect">
            <a:avLst/>
          </a:prstGeom>
          <a:solidFill>
            <a:srgbClr val="16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2350008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  <a:latin typeface="Calibri"/>
              </a:rPr>
              <a:t>w600k_mbf_fp16.onnx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235000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  <a:latin typeface="Calibri"/>
              </a:rPr>
              <a:t>MobileFaceNet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35000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1×3×112×112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235000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(1,512) embed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35000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13.6 MB ONNX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2350008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  <a:latin typeface="Calibri"/>
              </a:rPr>
              <a:t>6.8 MB 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752344"/>
            <a:ext cx="1161288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2825496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  <a:latin typeface="Calibri"/>
              </a:rPr>
              <a:t>face_landmarker.task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2825496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  <a:latin typeface="Calibri"/>
              </a:rPr>
              <a:t>MediaPipe Float16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282549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Any frame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2825496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478 landmarks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2825496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3.8 MB task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2825496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  <a:latin typeface="Calibri"/>
              </a:rPr>
              <a:t>3.8 MB 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227832"/>
            <a:ext cx="11612880" cy="457200"/>
          </a:xfrm>
          <a:prstGeom prst="rect">
            <a:avLst/>
          </a:prstGeom>
          <a:solidFill>
            <a:srgbClr val="16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3300984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  <a:latin typeface="Calibri"/>
              </a:rPr>
              <a:t>Blur detector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60320" y="330098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  <a:latin typeface="Calibri"/>
              </a:rPr>
              <a:t>Laplacian Variance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330098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RGB frame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3300984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variance float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3300984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0 MB (JS)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3300984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  <a:latin typeface="Calibri"/>
              </a:rPr>
              <a:t>0 MB 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297680"/>
            <a:ext cx="1161288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4389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Calibri"/>
              </a:rPr>
              <a:t>Why FP16, not INT8?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47548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INT8 dynamic quantisation generates ConvInteger ONNX operators — excluded from ORT's mobile build.
FP16 conversion uses standard Conv operators (universally supported) with half-precision weights.
BatchNorm layers kept in FP32 to prevent sqrt(0) → NaN on ARM NEON hardware.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0" y="44348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0B981"/>
                </a:solidFill>
                <a:latin typeface="Calibri"/>
              </a:rPr>
              <a:t>Total  19.0 MB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4892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  <a:latin typeface="Calibri"/>
              </a:rPr>
              <a:t>Budget: ~20 MB  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5257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B82F6"/>
                </a:solidFill>
                <a:latin typeface="Calibri"/>
              </a:rPr>
              <a:t>95% smaller than source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  <a:latin typeface="Calibri"/>
              </a:rPr>
              <a:t>Liveness Detection — Dual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74552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  <a:latin typeface="Calibri"/>
              </a:rPr>
              <a:t>Active challenges + passive model — defeats photos, screens, and 3D masks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  <a:latin typeface="Calibri"/>
              </a:rPr>
              <a:t>Active Liveness — 3-Challenge Sequence (MediaPipe)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691640"/>
            <a:ext cx="2331720" cy="155448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73736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1F5F9"/>
                </a:solidFill>
                <a:latin typeface="Calibri"/>
              </a:rPr>
              <a:t>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331720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B82F6"/>
                </a:solidFill>
                <a:latin typeface="Calibri"/>
              </a:rPr>
              <a:t>BLINK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65176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eyeBlinkLeft &lt; 0.3
then &gt; 0.7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103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1691640"/>
            <a:ext cx="2331720" cy="155448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80" y="173736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1F5F9"/>
                </a:solidFill>
                <a:latin typeface="Calibri"/>
              </a:rPr>
              <a:t>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331720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  <a:latin typeface="Calibri"/>
              </a:rPr>
              <a:t>SMILE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65176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mouthSmileL +
mouthSmileR &gt; 1.0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103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691640"/>
            <a:ext cx="2331720" cy="155448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89320" y="173736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1F5F9"/>
                </a:solidFill>
                <a:latin typeface="Calibri"/>
              </a:rPr>
              <a:t>↔️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2331720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9E0B"/>
                </a:solidFill>
                <a:latin typeface="Calibri"/>
              </a:rPr>
              <a:t>HEAD 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265176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|yaw| &gt; 20°
(euler angles)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103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23960" y="1691640"/>
            <a:ext cx="2331720" cy="155448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23960" y="173736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1F5F9"/>
                </a:solidFill>
                <a:latin typeface="Calibri"/>
              </a:rP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2331720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  <a:latin typeface="Calibri"/>
              </a:rPr>
              <a:t>VERIFIED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265176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Proceed to
capture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3429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  <a:latin typeface="Calibri"/>
              </a:rPr>
              <a:t>Passive Anti-Spoofing — MobileNetV3 (runs on every capture)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840480"/>
            <a:ext cx="274320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91363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B82F6"/>
                </a:solidFill>
                <a:latin typeface="Calibri"/>
              </a:rPr>
              <a:t>Input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25196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Camera snapshot
224×224 crop
ImageNet normalised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91840" y="3840480"/>
            <a:ext cx="274320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1840" y="391363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B82F6"/>
                </a:solidFill>
                <a:latin typeface="Calibri"/>
              </a:rPr>
              <a:t>Model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425196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MobileNetV3-Large
Binary classifier
FP16 ONNX · CPU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840480"/>
            <a:ext cx="274320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391363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B82F6"/>
                </a:solidFill>
                <a:latin typeface="Calibri"/>
              </a:rPr>
              <a:t>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425196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prob_live ∈ [0,1]
Threshold: 0.3
~160 ms on S25+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0" y="3840480"/>
            <a:ext cx="274320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0" y="391363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B82F6"/>
                </a:solidFill>
                <a:latin typeface="Calibri"/>
              </a:rPr>
              <a:t>Result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25196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isLive=true
→ proceed
isLive=false → reject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5989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Calibri"/>
              </a:rPr>
              <a:t>Attack defeated by our system: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309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  <a:latin typeface="Calibri"/>
              </a:rPr>
              <a:t>Printed photo  ✓   |   Screen video  ✓   |   Someone else's face  ✓   |   Spoofed photo  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  <a:latin typeface="Calibri"/>
              </a:rPr>
              <a:t>Offline-First Sync &amp; Purge Mechanism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74552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  <a:latin typeface="Calibri"/>
              </a:rPr>
              <a:t>Enroll anywhere — sync when connected — purge after 24 hours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54480"/>
            <a:ext cx="2560320" cy="237744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6916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B82F6"/>
                </a:solidFill>
                <a:latin typeface="Calibri"/>
              </a:rPr>
              <a:t>1. Enroll
(offline)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24028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Face captured
Stored in SQLite
Sync queue: PENDING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554480"/>
            <a:ext cx="2560320" cy="237744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6916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9E0B"/>
                </a:solidFill>
                <a:latin typeface="Calibri"/>
              </a:rPr>
              <a:t>2. Offline
Period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24028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App works fully
No connectivity
Queue grows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554480"/>
            <a:ext cx="2560320" cy="237744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6916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  <a:latin typeface="Calibri"/>
              </a:rPr>
              <a:t>3. Connected
(auto-detect)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24028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NetInfo fires
SyncManager.drainQueue()
POST to AWS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20" y="1554480"/>
            <a:ext cx="2560320" cy="237744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16916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  <a:latin typeface="Calibri"/>
              </a:rPr>
              <a:t>4. Purge
(24 hours)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224028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Completed entries
deleted from queue
Local DB kept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160520"/>
            <a:ext cx="5303520" cy="2468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2519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AWS Payload Format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66344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0B981"/>
                </a:solidFill>
                <a:latin typeface="Calibri"/>
              </a:rPr>
              <a:t>{
  "face_id":   "a3f8c1d2-...",
  "tenant":    "default",
  "operation": "INSERT",
  "embedding": [0.023, -0.141, ...],
  "name":      "Ankit Thawal",
  "timestamp": 1749081234567
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4160520"/>
            <a:ext cx="5943600" cy="2468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425196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Retry &amp; Purge Logic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663440"/>
            <a:ext cx="5577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• Max 3 retries per queue item</a:t>
            </a:r>
          </a:p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• After 3 failures → status = 'failed'</a:t>
            </a:r>
          </a:p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• Success → status = 'done', synced = 1</a:t>
            </a:r>
          </a:p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• Purge: DELETE done rows &gt; 24h old</a:t>
            </a:r>
          </a:p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• Survives app restarts (SQLite persisted)</a:t>
            </a:r>
          </a:p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• Batch size: 20 faces per sync cycle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  <a:latin typeface="Calibri"/>
              </a:rPr>
              <a:t>Performance Benchmarks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74552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  <a:latin typeface="Calibri"/>
              </a:rPr>
              <a:t>Samsung Galaxy S25+ · Snapdragon 8 Elite · Android 16 · CPU-only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Calibri"/>
              </a:rPr>
              <a:t>Inference Pipeline Timings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685800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7373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Calibri"/>
              </a:rPr>
              <a:t>Operation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7373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Calibri"/>
              </a:rPr>
              <a:t>Avg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7373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Calibri"/>
              </a:rPr>
              <a:t>Max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7373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Calibri"/>
              </a:rPr>
              <a:t>Status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057400"/>
            <a:ext cx="685800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121408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B82F6"/>
                </a:solidFill>
                <a:latin typeface="Calibri"/>
              </a:rPr>
              <a:t>Blur detection (Laplacian JS)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121408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~2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121408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5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121408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532888"/>
            <a:ext cx="6858000" cy="457200"/>
          </a:xfrm>
          <a:prstGeom prst="rect">
            <a:avLst/>
          </a:prstGeom>
          <a:solidFill>
            <a:srgbClr val="16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59689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B82F6"/>
                </a:solidFill>
                <a:latin typeface="Calibri"/>
              </a:rPr>
              <a:t>Spoof inference (FP16 ONNX)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2596896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~160 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596896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250 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596896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008376"/>
            <a:ext cx="685800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07238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B82F6"/>
                </a:solidFill>
                <a:latin typeface="Calibri"/>
              </a:rPr>
              <a:t>MediaPipe face detect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307238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~60 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307238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100 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3072384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483864"/>
            <a:ext cx="6858000" cy="457200"/>
          </a:xfrm>
          <a:prstGeom prst="rect">
            <a:avLst/>
          </a:prstGeom>
          <a:solidFill>
            <a:srgbClr val="16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54787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B82F6"/>
                </a:solidFill>
                <a:latin typeface="Calibri"/>
              </a:rPr>
              <a:t>Face embedding (FP16 ONNX)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3547872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~130 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3547872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200 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3547872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959352"/>
            <a:ext cx="685800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0233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B82F6"/>
                </a:solidFill>
                <a:latin typeface="Calibri"/>
              </a:rPr>
              <a:t>Cosine search (100 faces)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4023360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~5 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4023360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10 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4023360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434840"/>
            <a:ext cx="6858000" cy="457200"/>
          </a:xfrm>
          <a:prstGeom prst="rect">
            <a:avLst/>
          </a:prstGeom>
          <a:solidFill>
            <a:srgbClr val="16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498848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B82F6"/>
                </a:solidFill>
                <a:latin typeface="Calibri"/>
              </a:rPr>
              <a:t>Image decode + bridge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0" y="4498848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~120 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60" y="4498848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180 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4498848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910328"/>
            <a:ext cx="6858000" cy="457200"/>
          </a:xfrm>
          <a:prstGeom prst="rect">
            <a:avLst/>
          </a:prstGeom>
          <a:solidFill>
            <a:srgbClr val="052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497433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TOTAL enroll pipeline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0" y="4974336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~550 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37760" y="4974336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&lt; 1 sec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4974336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✓ PASS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385816"/>
            <a:ext cx="6858000" cy="457200"/>
          </a:xfrm>
          <a:prstGeom prst="rect">
            <a:avLst/>
          </a:prstGeom>
          <a:solidFill>
            <a:srgbClr val="052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544982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TOTAL verify pipeline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40480" y="544982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~550 ms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37760" y="544982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&lt; 1 sec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0" y="5449824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✓ PASS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89520" y="13258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Calibri"/>
              </a:rPr>
              <a:t>Model Size Budget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89520" y="1691640"/>
            <a:ext cx="438912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spoof_fp16.onnx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58400" y="1783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10B981"/>
                </a:solidFill>
                <a:latin typeface="Calibri"/>
              </a:rPr>
              <a:t>8.4 MB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89520" y="2331720"/>
            <a:ext cx="438912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72400" y="2423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w600k_mbf_fp16.onnx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58400" y="24231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10B981"/>
                </a:solidFill>
                <a:latin typeface="Calibri"/>
              </a:rPr>
              <a:t>6.8 MB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89520" y="2971800"/>
            <a:ext cx="438912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772400" y="3063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face_landmarker.task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58400" y="3063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10B981"/>
                </a:solidFill>
                <a:latin typeface="Calibri"/>
              </a:rPr>
              <a:t>3.8 MB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589520" y="3611879"/>
            <a:ext cx="4389120" cy="548640"/>
          </a:xfrm>
          <a:prstGeom prst="rect">
            <a:avLst/>
          </a:prstGeom>
          <a:solidFill>
            <a:srgbClr val="052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772400" y="370331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  <a:latin typeface="Calibri"/>
              </a:rPr>
              <a:t>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58400" y="370331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0B981"/>
                </a:solidFill>
                <a:latin typeface="Calibri"/>
              </a:rPr>
              <a:t>19.0 MB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89520" y="4251960"/>
            <a:ext cx="438912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772400" y="4343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  <a:latin typeface="Calibri"/>
              </a:rPr>
              <a:t>BUDGET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58400" y="4343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0B981"/>
                </a:solidFill>
                <a:latin typeface="Calibri"/>
              </a:rPr>
              <a:t>~20 MB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89520" y="507492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10B981"/>
                </a:solidFill>
                <a:latin typeface="Calibri"/>
              </a:rPr>
              <a:t>&lt; 1 sec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589520" y="58521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end-to-end recognition on CPU-only mid-range device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  <a:latin typeface="Calibri"/>
              </a:rPr>
              <a:t>Integration into Datalake 3.0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74552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  <a:latin typeface="Calibri"/>
              </a:rPr>
              <a:t>Drop-in module — same React Native framework, minimal new dependencies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Calibri"/>
              </a:rPr>
              <a:t>12-Step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3736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1.  Copy src/ml, src/db, src/sync, src/utils</a:t>
            </a:r>
          </a:p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2.  Copy MediaPipeModule.java (Android)</a:t>
            </a:r>
          </a:p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3.  Copy MediaPipeModule.swift (iOS)</a:t>
            </a:r>
          </a:p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4.  Register MediaPipePackage in MainApplication</a:t>
            </a:r>
          </a:p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5.  Copy 3 model files to Android assets</a:t>
            </a:r>
          </a:p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6.  Add model files to Xcode project (iOS)</a:t>
            </a:r>
          </a:p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7.  Add MediaPipe + ExifInterface to build.gradle</a:t>
            </a:r>
          </a:p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8.  Add MediaPipeTasksVision to Podfile + pod install</a:t>
            </a:r>
          </a:p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9.  Add aaptOptions noCompress in build.gradle</a:t>
            </a:r>
          </a:p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10. npm install (5 packages)</a:t>
            </a:r>
          </a:p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11. initDB() + prepareOnnxModels() + SyncManager.start()</a:t>
            </a:r>
          </a:p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12. Set SYNC_ENDPOINT in constants.ts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Calibri"/>
              </a:rPr>
              <a:t>Net addition to Datalake 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37360"/>
            <a:ext cx="539496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84708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AI model bundle (3 files)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184708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10B981"/>
                </a:solidFill>
                <a:latin typeface="Calibri"/>
              </a:rPr>
              <a:t>+19 MB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423160"/>
            <a:ext cx="539496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53288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ONNX Runtime native lib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253288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10B981"/>
                </a:solidFill>
                <a:latin typeface="Calibri"/>
              </a:rPr>
              <a:t>+8 MB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108960"/>
            <a:ext cx="539496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21868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MediaPipe tasks-vision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321868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10B981"/>
                </a:solidFill>
                <a:latin typeface="Calibri"/>
              </a:rPr>
              <a:t>+8 MB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794760"/>
            <a:ext cx="539496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90448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JS source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390448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10B981"/>
                </a:solidFill>
                <a:latin typeface="Calibri"/>
              </a:rPr>
              <a:t>&lt; 1 MB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4480560"/>
            <a:ext cx="5394960" cy="594360"/>
          </a:xfrm>
          <a:prstGeom prst="rect">
            <a:avLst/>
          </a:prstGeom>
          <a:solidFill>
            <a:srgbClr val="052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59028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  <a:latin typeface="Calibri"/>
              </a:rPr>
              <a:t>Net total addition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459028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0B981"/>
                </a:solidFill>
                <a:latin typeface="Calibri"/>
              </a:rPr>
              <a:t>~36 MB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5212080"/>
            <a:ext cx="539496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5303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Key integration insight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6235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Datalake 3.0 already ships React Native. The ~36 MB addition
covers ML models + 2 native libs. Our JS code is &lt; 1 MB.
The API is 6 NativeModule methods + 1 event listener.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  <a:latin typeface="Calibri"/>
              </a:rPr>
              <a:t>Open Source — 100% No Proprietary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74552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  <a:latin typeface="Calibri"/>
              </a:rPr>
              <a:t>Every component is MIT, Apache 2.0, or cited for educational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1161288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4173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Calibri"/>
              </a:rPr>
              <a:t>Library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41732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Calibri"/>
              </a:rPr>
              <a:t>License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417320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Calibri"/>
              </a:rPr>
              <a:t>Usage in Pehchaan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737360"/>
            <a:ext cx="11612880" cy="4297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792224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Calibri"/>
              </a:rPr>
              <a:t>ZepIris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792224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alibri"/>
              </a:rPr>
              <a:t>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792224"/>
            <a:ext cx="7406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Spoof model weights + architecture + preprocessing pipeline + DB schema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185415"/>
            <a:ext cx="11612880" cy="429768"/>
          </a:xfrm>
          <a:prstGeom prst="rect">
            <a:avLst/>
          </a:prstGeom>
          <a:solidFill>
            <a:srgbClr val="16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240279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Calibri"/>
              </a:rPr>
              <a:t>InsightFace MobileFaceNet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240279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  <a:latin typeface="Calibri"/>
              </a:rPr>
              <a:t>Educational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240279"/>
            <a:ext cx="7406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w600k_mbf face embedding — 512-dim, 600K identities, diverse demographics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633472"/>
            <a:ext cx="11612880" cy="4297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688336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Calibri"/>
              </a:rPr>
              <a:t>MediaPipe Tasks Vision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268833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B82F6"/>
                </a:solidFill>
                <a:latin typeface="Calibri"/>
              </a:rPr>
              <a:t>Apache 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688336"/>
            <a:ext cx="7406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Face Landmarker — active liveness (blend shapes) + face detection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081528"/>
            <a:ext cx="11612880" cy="429768"/>
          </a:xfrm>
          <a:prstGeom prst="rect">
            <a:avLst/>
          </a:prstGeom>
          <a:solidFill>
            <a:srgbClr val="16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3136392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Calibri"/>
              </a:rPr>
              <a:t>ONNX Runtime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313639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alibri"/>
              </a:rPr>
              <a:t>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3136392"/>
            <a:ext cx="7406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On-device inference · CPU Execution Provider · no GPU required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529584"/>
            <a:ext cx="11612880" cy="4297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3584448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Calibri"/>
              </a:rPr>
              <a:t>onnxconverter-common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358444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alibri"/>
              </a:rPr>
              <a:t>MIT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3584448"/>
            <a:ext cx="7406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FP16 model conversion with safe BatchNorm handling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977639"/>
            <a:ext cx="11612880" cy="429768"/>
          </a:xfrm>
          <a:prstGeom prst="rect">
            <a:avLst/>
          </a:prstGeom>
          <a:solidFill>
            <a:srgbClr val="16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4032503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Calibri"/>
              </a:rPr>
              <a:t>React Native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4032503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alibri"/>
              </a:rPr>
              <a:t>MIT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4032503"/>
            <a:ext cx="7406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Cross-platform framework — same JS codebase on Android + iOS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425696"/>
            <a:ext cx="11612880" cy="4297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4480560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Calibri"/>
              </a:rPr>
              <a:t>react-native-vision-camera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7520" y="4480560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alibri"/>
              </a:rPr>
              <a:t>MIT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4480560"/>
            <a:ext cx="7406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Camera access, snapshot capture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873752"/>
            <a:ext cx="11612880" cy="429768"/>
          </a:xfrm>
          <a:prstGeom prst="rect">
            <a:avLst/>
          </a:prstGeom>
          <a:solidFill>
            <a:srgbClr val="16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4928616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Calibri"/>
              </a:rPr>
              <a:t>react-native-quick-sqlite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17520" y="492861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alibri"/>
              </a:rPr>
              <a:t>MIT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80" y="4928616"/>
            <a:ext cx="7406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Synchronous SQLite — offline face storage + sync queue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5321808"/>
            <a:ext cx="11612880" cy="4297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5376672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Calibri"/>
              </a:rPr>
              <a:t>@react-native-community/netinfo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17520" y="537667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alibri"/>
              </a:rPr>
              <a:t>MIT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80" y="5376672"/>
            <a:ext cx="7406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Network state monitoring for sync trigger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5769864"/>
            <a:ext cx="11612880" cy="429768"/>
          </a:xfrm>
          <a:prstGeom prst="rect">
            <a:avLst/>
          </a:prstGeom>
          <a:solidFill>
            <a:srgbClr val="16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5824728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Calibri"/>
              </a:rPr>
              <a:t>PyTorch / torchvision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17520" y="582472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B82F6"/>
                </a:solidFill>
                <a:latin typeface="Calibri"/>
              </a:rPr>
              <a:t>BSD-3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97680" y="5824728"/>
            <a:ext cx="7406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Model export pipeline (Python tooling, not in APK)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0" y="64008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F1F5F9"/>
                </a:solidFill>
                <a:latin typeface="Calibri"/>
              </a:rPr>
              <a:t>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463040"/>
            <a:ext cx="85313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1F5F9"/>
                </a:solidFill>
                <a:latin typeface="Calibri"/>
              </a:rPr>
              <a:t>Pehchaan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423160"/>
            <a:ext cx="8531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94A3B8"/>
                </a:solidFill>
                <a:latin typeface="Calibri"/>
              </a:rPr>
              <a:t>पहचान  ·  Recognition  ·  Identity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017520"/>
            <a:ext cx="11274552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3246120"/>
            <a:ext cx="210312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310128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0B981"/>
                </a:solidFill>
                <a:latin typeface="Calibri"/>
              </a:rPr>
              <a:t>19 MB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7705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Model bundle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3246120"/>
            <a:ext cx="210312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3310128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0B981"/>
                </a:solidFill>
                <a:latin typeface="Calibri"/>
              </a:rPr>
              <a:t>&lt; 1 sec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87705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Inference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0" y="3246120"/>
            <a:ext cx="210312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3310128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0B981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387705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Liveness challenges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3246120"/>
            <a:ext cx="210312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3310128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0B981"/>
                </a:solidFill>
                <a:latin typeface="Calibri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387705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Offline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66960" y="3246120"/>
            <a:ext cx="210312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66960" y="3310128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0B981"/>
                </a:solidFill>
                <a:latin typeface="Calibri"/>
              </a:rPr>
              <a:t>95%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387705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Size reduction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617720"/>
            <a:ext cx="11274552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4754880"/>
            <a:ext cx="8531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1F5F9"/>
                </a:solidFill>
                <a:latin typeface="Calibri"/>
              </a:rPr>
              <a:t>Ankit Thawal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257800"/>
            <a:ext cx="8531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  <a:latin typeface="Calibri"/>
              </a:rPr>
              <a:t>▶  Demo  drive.google.com/file/d/1fJTuhX2EFv_5ctE8QjiePRTo3WedkGpv/view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669280"/>
            <a:ext cx="8531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3B82F6"/>
                </a:solidFill>
                <a:latin typeface="Calibri"/>
              </a:rPr>
              <a:t>🔗 linkedin.com/in/ankit-thawal   ·   github.com/ankit-thawal47/pehchan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6172200"/>
            <a:ext cx="8531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HACKATHON 7.0  · 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